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6000"/>
          </a:xfrm>
          <a:prstGeom prst="rect">
            <a:avLst/>
          </a:prstGeom>
          <a:solidFill>
            <a:srgbClr val="35C2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Team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5C2A7"/>
                </a:solidFill>
                <a:latin typeface="Calibri"/>
              </a:rPr>
              <a:t>MACINTOSH  •  Qwen2.5-7B-Instruct  •  ~7.6B params (≤ 8B)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5532120" cy="1828800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20056" cy="12798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 dirty="0">
                <a:solidFill>
                  <a:srgbClr val="35C2A7"/>
                </a:solidFill>
                <a:latin typeface="Calibri"/>
              </a:rPr>
              <a:t>TEAM MEMBERS</a:t>
            </a:r>
          </a:p>
          <a:p>
            <a:pPr>
              <a:lnSpc>
                <a:spcPct val="106000"/>
              </a:lnSpc>
              <a:spcBef>
                <a:spcPts val="200"/>
              </a:spcBef>
            </a:pPr>
            <a:r>
              <a:rPr sz="1450" b="1" i="0" dirty="0">
                <a:solidFill>
                  <a:srgbClr val="F3F6FB"/>
                </a:solidFill>
                <a:latin typeface="Calibri"/>
              </a:rPr>
              <a:t>MACINTOSH  —  </a:t>
            </a:r>
            <a:r>
              <a:rPr lang="en-GB" sz="1450" i="1" dirty="0">
                <a:solidFill>
                  <a:srgbClr val="9FB3C4"/>
                </a:solidFill>
                <a:latin typeface="Calibri"/>
              </a:rPr>
              <a:t>Mohammed Saifullah</a:t>
            </a:r>
          </a:p>
          <a:p>
            <a:pPr>
              <a:lnSpc>
                <a:spcPct val="106000"/>
              </a:lnSpc>
              <a:spcBef>
                <a:spcPts val="200"/>
              </a:spcBef>
            </a:pPr>
            <a:r>
              <a:rPr lang="en-GB" sz="1450" b="0" i="1" dirty="0">
                <a:solidFill>
                  <a:srgbClr val="9FB3C4"/>
                </a:solidFill>
                <a:latin typeface="Calibri"/>
              </a:rPr>
              <a:t>		</a:t>
            </a:r>
            <a:r>
              <a:rPr lang="en-GB" sz="1450" i="1" dirty="0">
                <a:solidFill>
                  <a:srgbClr val="9FB3C4"/>
                </a:solidFill>
                <a:latin typeface="Calibri"/>
              </a:rPr>
              <a:t>         Jatin Kumar</a:t>
            </a:r>
          </a:p>
          <a:p>
            <a:pPr>
              <a:lnSpc>
                <a:spcPct val="106000"/>
              </a:lnSpc>
              <a:spcBef>
                <a:spcPts val="200"/>
              </a:spcBef>
            </a:pPr>
            <a:r>
              <a:rPr lang="en-GB" sz="1450" i="1" dirty="0">
                <a:solidFill>
                  <a:srgbClr val="9FB3C4"/>
                </a:solidFill>
                <a:latin typeface="Calibri"/>
              </a:rPr>
              <a:t>		        Nisarg </a:t>
            </a:r>
            <a:r>
              <a:rPr lang="en-GB" sz="1450" i="1">
                <a:solidFill>
                  <a:srgbClr val="9FB3C4"/>
                </a:solidFill>
                <a:latin typeface="Calibri"/>
              </a:rPr>
              <a:t>Chasmawala</a:t>
            </a:r>
          </a:p>
          <a:p>
            <a:pPr>
              <a:lnSpc>
                <a:spcPct val="106000"/>
              </a:lnSpc>
              <a:spcBef>
                <a:spcPts val="200"/>
              </a:spcBef>
            </a:pPr>
            <a:endParaRPr sz="1450" b="0" i="1" dirty="0">
              <a:solidFill>
                <a:srgbClr val="9FB3C4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8816" y="2011680"/>
            <a:ext cx="4837175" cy="1517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35C2A7"/>
                </a:solidFill>
                <a:latin typeface="Calibri"/>
              </a:rPr>
              <a:t>MODEL USED AND SIZE</a:t>
            </a:r>
          </a:p>
          <a:p>
            <a:pPr>
              <a:lnSpc>
                <a:spcPct val="106000"/>
              </a:lnSpc>
              <a:spcBef>
                <a:spcPts val="200"/>
              </a:spcBef>
            </a:pPr>
            <a:r>
              <a:rPr sz="1400" b="0" i="0">
                <a:solidFill>
                  <a:srgbClr val="F3F6FB"/>
                </a:solidFill>
                <a:latin typeface="Calibri"/>
              </a:rPr>
              <a:t>Qwen2.5-7B-Instruct (~7.6B), run locally via Ollama on macOS. The bge-reranker-v2-m3 (278M) is a retriever, not the answering model, so it does not count toward the 8B cap.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822191"/>
            <a:ext cx="5532120" cy="2212848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005072"/>
            <a:ext cx="5020056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35C2A7"/>
                </a:solidFill>
                <a:latin typeface="Calibri"/>
              </a:rPr>
              <a:t>HIGH-LEVEL STRATEGY</a:t>
            </a:r>
          </a:p>
          <a:p>
            <a:pPr>
              <a:lnSpc>
                <a:spcPct val="106000"/>
              </a:lnSpc>
              <a:spcBef>
                <a:spcPts val="200"/>
              </a:spcBef>
            </a:pPr>
            <a:r>
              <a:rPr sz="1400" b="0" i="0">
                <a:solidFill>
                  <a:srgbClr val="F3F6FB"/>
                </a:solidFill>
                <a:latin typeface="Calibri"/>
              </a:rPr>
              <a:t>Retrieval-first RAG. The questions are long-tail Wikipedia facts a small model can't recall, so this is a retrieval + reading-comprehension contest, not a reasoning one: find the right article, locate the right sentence, and fact-check every option against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3822191"/>
            <a:ext cx="5349240" cy="2212848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8816" y="4005072"/>
            <a:ext cx="4837175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35C2A7"/>
                </a:solidFill>
                <a:latin typeface="Calibri"/>
              </a:rPr>
              <a:t>INTERNET SEARCH USED?</a:t>
            </a:r>
          </a:p>
          <a:p>
            <a:pPr>
              <a:lnSpc>
                <a:spcPct val="106000"/>
              </a:lnSpc>
              <a:spcBef>
                <a:spcPts val="200"/>
              </a:spcBef>
            </a:pPr>
            <a:r>
              <a:rPr sz="1700" b="1" i="0">
                <a:solidFill>
                  <a:srgbClr val="35C2A7"/>
                </a:solidFill>
                <a:latin typeface="Calibri"/>
              </a:rPr>
              <a:t>Yes.  </a:t>
            </a:r>
            <a:r>
              <a:rPr sz="1400" b="0" i="0">
                <a:solidFill>
                  <a:srgbClr val="F3F6FB"/>
                </a:solidFill>
                <a:latin typeface="Calibri"/>
              </a:rPr>
              <a:t>English Wikipedia via the MediaWiki API (full articles, not snippets), with DuckDuckGo as a fallback when a title lookup misses.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6000"/>
          </a:xfrm>
          <a:prstGeom prst="rect">
            <a:avLst/>
          </a:prstGeom>
          <a:solidFill>
            <a:srgbClr val="35C2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Pipeline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5C2A7"/>
                </a:solidFill>
                <a:latin typeface="Calibri"/>
              </a:rPr>
              <a:t>Entity → retrieve → rank → answer → verify → never-blank CSV</a:t>
            </a:r>
          </a:p>
        </p:txBody>
      </p:sp>
      <p:sp>
        <p:nvSpPr>
          <p:cNvPr id="6" name="Pentagon 5"/>
          <p:cNvSpPr/>
          <p:nvPr/>
        </p:nvSpPr>
        <p:spPr>
          <a:xfrm>
            <a:off x="566928" y="1755648"/>
            <a:ext cx="2103120" cy="786384"/>
          </a:xfrm>
          <a:prstGeom prst="homePlate">
            <a:avLst>
              <a:gd name="adj" fmla="val 28000"/>
            </a:avLst>
          </a:prstGeom>
          <a:solidFill>
            <a:srgbClr val="35C2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20000" rIns="20000" bIns="20000" rtlCol="0" anchor="ctr"/>
          <a:lstStyle/>
          <a:p>
            <a:pPr algn="ctr">
              <a:lnSpc>
                <a:spcPct val="98000"/>
              </a:lnSpc>
            </a:pPr>
            <a:r>
              <a:rPr sz="1150" b="1">
                <a:solidFill>
                  <a:srgbClr val="081827"/>
                </a:solidFill>
                <a:latin typeface="Calibri"/>
              </a:rPr>
              <a:t>Entity</a:t>
            </a:r>
          </a:p>
          <a:p>
            <a:pPr algn="ctr">
              <a:lnSpc>
                <a:spcPct val="98000"/>
              </a:lnSpc>
            </a:pPr>
            <a:r>
              <a:rPr sz="1150" b="1">
                <a:solidFill>
                  <a:srgbClr val="081827"/>
                </a:solidFill>
                <a:latin typeface="Calibri"/>
              </a:rPr>
              <a:t>extraction</a:t>
            </a:r>
          </a:p>
        </p:txBody>
      </p:sp>
      <p:sp>
        <p:nvSpPr>
          <p:cNvPr id="7" name="Chevron 6"/>
          <p:cNvSpPr/>
          <p:nvPr/>
        </p:nvSpPr>
        <p:spPr>
          <a:xfrm>
            <a:off x="2761488" y="1755648"/>
            <a:ext cx="2103120" cy="786384"/>
          </a:xfrm>
          <a:prstGeom prst="chevron">
            <a:avLst>
              <a:gd name="adj" fmla="val 280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20000" rIns="20000" bIns="20000" rtlCol="0" anchor="ctr"/>
          <a:lstStyle/>
          <a:p>
            <a:pPr algn="ctr">
              <a:lnSpc>
                <a:spcPct val="98000"/>
              </a:lnSpc>
            </a:pPr>
            <a:r>
              <a:rPr sz="1150" b="1">
                <a:solidFill>
                  <a:srgbClr val="F3F6FB"/>
                </a:solidFill>
                <a:latin typeface="Calibri"/>
              </a:rPr>
              <a:t>Wikipedia</a:t>
            </a:r>
          </a:p>
          <a:p>
            <a:pPr algn="ctr">
              <a:lnSpc>
                <a:spcPct val="98000"/>
              </a:lnSpc>
            </a:pPr>
            <a:r>
              <a:rPr sz="1150" b="1">
                <a:solidFill>
                  <a:srgbClr val="F3F6FB"/>
                </a:solidFill>
                <a:latin typeface="Calibri"/>
              </a:rPr>
              <a:t>+ DuckDuckGo</a:t>
            </a:r>
          </a:p>
        </p:txBody>
      </p:sp>
      <p:sp>
        <p:nvSpPr>
          <p:cNvPr id="8" name="Chevron 7"/>
          <p:cNvSpPr/>
          <p:nvPr/>
        </p:nvSpPr>
        <p:spPr>
          <a:xfrm>
            <a:off x="4956048" y="1755648"/>
            <a:ext cx="2103120" cy="786384"/>
          </a:xfrm>
          <a:prstGeom prst="chevron">
            <a:avLst>
              <a:gd name="adj" fmla="val 28000"/>
            </a:avLst>
          </a:prstGeom>
          <a:solidFill>
            <a:srgbClr val="35C2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20000" rIns="20000" bIns="20000" rtlCol="0" anchor="ctr"/>
          <a:lstStyle/>
          <a:p>
            <a:pPr algn="ctr">
              <a:lnSpc>
                <a:spcPct val="98000"/>
              </a:lnSpc>
            </a:pPr>
            <a:r>
              <a:rPr sz="1150" b="1">
                <a:solidFill>
                  <a:srgbClr val="081827"/>
                </a:solidFill>
                <a:latin typeface="Calibri"/>
              </a:rPr>
              <a:t>Chunk +</a:t>
            </a:r>
          </a:p>
          <a:p>
            <a:pPr algn="ctr">
              <a:lnSpc>
                <a:spcPct val="98000"/>
              </a:lnSpc>
            </a:pPr>
            <a:r>
              <a:rPr sz="1150" b="1">
                <a:solidFill>
                  <a:srgbClr val="081827"/>
                </a:solidFill>
                <a:latin typeface="Calibri"/>
              </a:rPr>
              <a:t>cross-encoder</a:t>
            </a:r>
          </a:p>
        </p:txBody>
      </p:sp>
      <p:sp>
        <p:nvSpPr>
          <p:cNvPr id="9" name="Chevron 8"/>
          <p:cNvSpPr/>
          <p:nvPr/>
        </p:nvSpPr>
        <p:spPr>
          <a:xfrm>
            <a:off x="7150607" y="1755648"/>
            <a:ext cx="2103120" cy="786384"/>
          </a:xfrm>
          <a:prstGeom prst="chevron">
            <a:avLst>
              <a:gd name="adj" fmla="val 280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20000" rIns="20000" bIns="20000" rtlCol="0" anchor="ctr"/>
          <a:lstStyle/>
          <a:p>
            <a:pPr algn="ctr">
              <a:lnSpc>
                <a:spcPct val="98000"/>
              </a:lnSpc>
            </a:pPr>
            <a:r>
              <a:rPr sz="1150" b="1">
                <a:solidFill>
                  <a:srgbClr val="F3F6FB"/>
                </a:solidFill>
                <a:latin typeface="Calibri"/>
              </a:rPr>
              <a:t>Self-</a:t>
            </a:r>
          </a:p>
          <a:p>
            <a:pPr algn="ctr">
              <a:lnSpc>
                <a:spcPct val="98000"/>
              </a:lnSpc>
            </a:pPr>
            <a:r>
              <a:rPr sz="1150" b="1">
                <a:solidFill>
                  <a:srgbClr val="F3F6FB"/>
                </a:solidFill>
                <a:latin typeface="Calibri"/>
              </a:rPr>
              <a:t>consistency</a:t>
            </a:r>
          </a:p>
        </p:txBody>
      </p:sp>
      <p:sp>
        <p:nvSpPr>
          <p:cNvPr id="10" name="Chevron 9"/>
          <p:cNvSpPr/>
          <p:nvPr/>
        </p:nvSpPr>
        <p:spPr>
          <a:xfrm>
            <a:off x="9345167" y="1755648"/>
            <a:ext cx="2103120" cy="786384"/>
          </a:xfrm>
          <a:prstGeom prst="chevron">
            <a:avLst>
              <a:gd name="adj" fmla="val 28000"/>
            </a:avLst>
          </a:prstGeom>
          <a:solidFill>
            <a:srgbClr val="35C2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20000" rIns="20000" bIns="20000" rtlCol="0" anchor="ctr"/>
          <a:lstStyle/>
          <a:p>
            <a:pPr algn="ctr">
              <a:lnSpc>
                <a:spcPct val="98000"/>
              </a:lnSpc>
            </a:pPr>
            <a:r>
              <a:rPr sz="1150" b="1">
                <a:solidFill>
                  <a:srgbClr val="081827"/>
                </a:solidFill>
                <a:latin typeface="Calibri"/>
              </a:rPr>
              <a:t>Contradiction</a:t>
            </a:r>
          </a:p>
          <a:p>
            <a:pPr algn="ctr">
              <a:lnSpc>
                <a:spcPct val="98000"/>
              </a:lnSpc>
            </a:pPr>
            <a:r>
              <a:rPr sz="1150" b="1">
                <a:solidFill>
                  <a:srgbClr val="081827"/>
                </a:solidFill>
                <a:latin typeface="Calibri"/>
              </a:rPr>
              <a:t>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98064"/>
            <a:ext cx="5532120" cy="1591056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980944"/>
            <a:ext cx="5020056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35C2A7"/>
                </a:solidFill>
                <a:latin typeface="Calibri"/>
              </a:rPr>
              <a:t>EVIDENCE SOURCE</a:t>
            </a:r>
          </a:p>
          <a:p>
            <a:pPr>
              <a:lnSpc>
                <a:spcPct val="106000"/>
              </a:lnSpc>
              <a:spcBef>
                <a:spcPts val="200"/>
              </a:spcBef>
            </a:pPr>
            <a:r>
              <a:rPr sz="1350" b="0" i="0">
                <a:solidFill>
                  <a:srgbClr val="F3F6FB"/>
                </a:solidFill>
                <a:latin typeface="Calibri"/>
              </a:rPr>
              <a:t>Full English-Wikipedia articles via the MediaWiki API; DuckDuckGo snippets as fallback. Every question's retrieved evidence is logged to JSONL for reproducibility.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2798064"/>
            <a:ext cx="5349240" cy="1591056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2980944"/>
            <a:ext cx="483717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35C2A7"/>
                </a:solidFill>
                <a:latin typeface="Calibri"/>
              </a:rPr>
              <a:t>RETRIEVAL &amp; RANKING</a:t>
            </a:r>
          </a:p>
          <a:p>
            <a:pPr>
              <a:lnSpc>
                <a:spcPct val="106000"/>
              </a:lnSpc>
              <a:spcBef>
                <a:spcPts val="200"/>
              </a:spcBef>
            </a:pPr>
            <a:r>
              <a:rPr sz="1250" b="0" i="0">
                <a:solidFill>
                  <a:srgbClr val="F3F6FB"/>
                </a:solidFill>
                <a:latin typeface="Calibri"/>
              </a:rPr>
              <a:t>Entity-anchored queries (de-duplicated; section-targeted for buried numbers) → bge-reranker-v2-m3 cross-encoder over ~130-word chunks, top-5. A disambiguation retry re-queries with option-specific tokens when evidence misses the question's nouns.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35424"/>
            <a:ext cx="5532120" cy="1591056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718304"/>
            <a:ext cx="5020056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35C2A7"/>
                </a:solidFill>
                <a:latin typeface="Calibri"/>
              </a:rPr>
              <a:t>PROMPTING STRATEGY</a:t>
            </a:r>
          </a:p>
          <a:p>
            <a:pPr>
              <a:lnSpc>
                <a:spcPct val="106000"/>
              </a:lnSpc>
              <a:spcBef>
                <a:spcPts val="200"/>
              </a:spcBef>
            </a:pPr>
            <a:r>
              <a:rPr sz="1250" b="0" i="0">
                <a:solidFill>
                  <a:srgbClr val="F3F6FB"/>
                </a:solidFill>
                <a:latin typeface="Calibri"/>
              </a:rPr>
              <a:t>Few-shot; self-consistency (5 samples @ T=0.7) with option-order shuffle to cancel positional bias; per-option contradiction checks (CONTRADICTED / SUPPORTED / UNSTATED) lead on “which statement describes…” questions.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4535424"/>
            <a:ext cx="5349240" cy="1591056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8816" y="4718304"/>
            <a:ext cx="483717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35C2A7"/>
                </a:solidFill>
                <a:latin typeface="Calibri"/>
              </a:rPr>
              <a:t>VALIDATION METHOD</a:t>
            </a:r>
          </a:p>
          <a:p>
            <a:pPr>
              <a:lnSpc>
                <a:spcPct val="106000"/>
              </a:lnSpc>
              <a:spcBef>
                <a:spcPts val="200"/>
              </a:spcBef>
            </a:pPr>
            <a:r>
              <a:rPr sz="1350" b="0" i="0">
                <a:solidFill>
                  <a:srgbClr val="F3F6FB"/>
                </a:solidFill>
                <a:latin typeface="Calibri"/>
              </a:rPr>
              <a:t>Hard format gate (100 rows, A–E, zero blanks), lowest-confidence error analysis, and a no-“Unknown” policy — always commit a best guess (no penalty assumed).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7079"/>
            <a:ext cx="12192000" cy="6858000"/>
          </a:xfrm>
          <a:prstGeom prst="rect">
            <a:avLst/>
          </a:prstGeom>
          <a:solidFill>
            <a:srgbClr val="08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6000"/>
          </a:xfrm>
          <a:prstGeom prst="rect">
            <a:avLst/>
          </a:prstGeom>
          <a:solidFill>
            <a:srgbClr val="35C2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Results and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5C2A7"/>
                </a:solidFill>
                <a:latin typeface="Calibri"/>
              </a:rPr>
              <a:t>What worked, what failed, and final submission notes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55648"/>
            <a:ext cx="2679192" cy="1060704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23134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5C2A7"/>
                </a:solidFill>
                <a:latin typeface="Calibri"/>
              </a:rPr>
              <a:t>100/100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432304"/>
            <a:ext cx="23134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FB3C4"/>
                </a:solidFill>
                <a:latin typeface="Calibri"/>
              </a:rPr>
              <a:t>answered, no blanks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755648"/>
            <a:ext cx="2679192" cy="1060704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1883664"/>
            <a:ext cx="23134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5C2A7"/>
                </a:solidFill>
                <a:latin typeface="Calibri"/>
              </a:rPr>
              <a:t>~7.6B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432304"/>
            <a:ext cx="23134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FB3C4"/>
                </a:solidFill>
                <a:latin typeface="Calibri"/>
              </a:rPr>
              <a:t>model params (≤8B)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8192" y="1755648"/>
            <a:ext cx="2679192" cy="1060704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883664"/>
            <a:ext cx="23134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5C2A7"/>
                </a:solidFill>
                <a:latin typeface="Calibri"/>
              </a:rPr>
              <a:t>5×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32304"/>
            <a:ext cx="23134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FB3C4"/>
                </a:solidFill>
                <a:latin typeface="Calibri"/>
              </a:rPr>
              <a:t>self-consistency votes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8824" y="1755648"/>
            <a:ext cx="2679192" cy="1060704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79992" y="1883664"/>
            <a:ext cx="23134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5C2A7"/>
                </a:solidFill>
                <a:latin typeface="Calibri"/>
              </a:rPr>
              <a:t>top-5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432304"/>
            <a:ext cx="23134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FB3C4"/>
                </a:solidFill>
                <a:latin typeface="Calibri"/>
              </a:rPr>
              <a:t>reranked passages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054096"/>
            <a:ext cx="5532120" cy="1828800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236976"/>
            <a:ext cx="5020056" cy="1517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 dirty="0">
                <a:solidFill>
                  <a:srgbClr val="35C2A7"/>
                </a:solidFill>
                <a:latin typeface="Calibri"/>
              </a:rPr>
              <a:t>MOST USEFUL IMPROVEMENT</a:t>
            </a:r>
          </a:p>
          <a:p>
            <a:pPr>
              <a:lnSpc>
                <a:spcPct val="106000"/>
              </a:lnSpc>
              <a:spcBef>
                <a:spcPts val="200"/>
              </a:spcBef>
            </a:pPr>
            <a:r>
              <a:rPr sz="1350" b="0" i="0" dirty="0">
                <a:solidFill>
                  <a:srgbClr val="F3F6FB"/>
                </a:solidFill>
                <a:latin typeface="Calibri"/>
              </a:rPr>
              <a:t>Disambiguation-retry + contradiction-scoring. They fixed wrong-sense retrieval (Monarchidae → butterfly, Armet → </a:t>
            </a:r>
            <a:r>
              <a:rPr sz="1350" b="0" i="0" dirty="0" err="1">
                <a:solidFill>
                  <a:srgbClr val="F3F6FB"/>
                </a:solidFill>
                <a:latin typeface="Calibri"/>
              </a:rPr>
              <a:t>armoured</a:t>
            </a:r>
            <a:r>
              <a:rPr sz="1350" b="0" i="0" dirty="0">
                <a:solidFill>
                  <a:srgbClr val="F3F6FB"/>
                </a:solidFill>
                <a:latin typeface="Calibri"/>
              </a:rPr>
              <a:t> vehicle) and the minimal-edit distractor traps: factory- vs privately-built, “black” vs dark purple, lipid vs carbohydrate.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3054096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28816" y="3236976"/>
            <a:ext cx="4837175" cy="1517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35C2A7"/>
                </a:solidFill>
                <a:latin typeface="Calibri"/>
              </a:rPr>
              <a:t>KNOWN LIMITATIONS</a:t>
            </a:r>
          </a:p>
          <a:p>
            <a:pPr>
              <a:lnSpc>
                <a:spcPct val="106000"/>
              </a:lnSpc>
              <a:spcBef>
                <a:spcPts val="200"/>
              </a:spcBef>
            </a:pPr>
            <a:r>
              <a:rPr sz="1350" b="0" i="0">
                <a:solidFill>
                  <a:srgbClr val="F3F6FB"/>
                </a:solidFill>
                <a:latin typeface="Calibri"/>
              </a:rPr>
              <a:t>Coverage heuristic can miss same-vocabulary sense collisions; numbers buried in article sections stay hard; confidence = vote agreement, not calibrated; Wikipedia 429s handled with backoff + cache.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047488"/>
            <a:ext cx="5532120" cy="1188720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230368"/>
            <a:ext cx="5020056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 dirty="0">
                <a:solidFill>
                  <a:srgbClr val="35C2A7"/>
                </a:solidFill>
                <a:latin typeface="Calibri"/>
              </a:rPr>
              <a:t>FINAL SCORE</a:t>
            </a:r>
          </a:p>
          <a:p>
            <a:pPr>
              <a:lnSpc>
                <a:spcPct val="106000"/>
              </a:lnSpc>
              <a:spcBef>
                <a:spcPts val="200"/>
              </a:spcBef>
            </a:pPr>
            <a:r>
              <a:rPr sz="1600" b="1" i="0" dirty="0">
                <a:solidFill>
                  <a:srgbClr val="35C2A7"/>
                </a:solidFill>
                <a:latin typeface="Calibri"/>
              </a:rPr>
              <a:t>Pending  </a:t>
            </a:r>
            <a:r>
              <a:rPr sz="1350" b="0" i="1" dirty="0">
                <a:solidFill>
                  <a:srgbClr val="9FB3C4"/>
                </a:solidFill>
                <a:latin typeface="Calibri"/>
              </a:rPr>
              <a:t>— update after grading.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5047488"/>
            <a:ext cx="5349240" cy="1188720"/>
          </a:xfrm>
          <a:prstGeom prst="roundRect">
            <a:avLst>
              <a:gd name="adj" fmla="val 4500"/>
            </a:avLst>
          </a:prstGeom>
          <a:solidFill>
            <a:srgbClr val="10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28816" y="5230368"/>
            <a:ext cx="4837175" cy="4854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50" b="1" dirty="0">
                <a:solidFill>
                  <a:srgbClr val="35C2A7"/>
                </a:solidFill>
                <a:latin typeface="Calibri"/>
              </a:rPr>
              <a:t>GITHUB</a:t>
            </a:r>
            <a:endParaRPr lang="en-US" sz="1150" b="1" dirty="0">
              <a:solidFill>
                <a:srgbClr val="35C2A7"/>
              </a:solidFill>
              <a:latin typeface="Calibri"/>
            </a:endParaRPr>
          </a:p>
          <a:p>
            <a:pPr>
              <a:lnSpc>
                <a:spcPct val="106000"/>
              </a:lnSpc>
              <a:spcBef>
                <a:spcPts val="200"/>
              </a:spcBef>
            </a:pPr>
            <a:r>
              <a:rPr lang="en-US" sz="1400" i="1" dirty="0">
                <a:solidFill>
                  <a:srgbClr val="9FB3C4"/>
                </a:solidFill>
              </a:rPr>
              <a:t>https://</a:t>
            </a:r>
            <a:r>
              <a:rPr lang="en-US" sz="1400" i="1" dirty="0" err="1">
                <a:solidFill>
                  <a:srgbClr val="9FB3C4"/>
                </a:solidFill>
              </a:rPr>
              <a:t>github.com</a:t>
            </a:r>
            <a:r>
              <a:rPr lang="en-US" sz="1400" i="1" dirty="0">
                <a:solidFill>
                  <a:srgbClr val="9FB3C4"/>
                </a:solidFill>
              </a:rPr>
              <a:t>/humblefool1997/</a:t>
            </a:r>
            <a:r>
              <a:rPr lang="en-US" sz="1400" i="1" dirty="0" err="1">
                <a:solidFill>
                  <a:srgbClr val="9FB3C4"/>
                </a:solidFill>
              </a:rPr>
              <a:t>BCU_Hackathon</a:t>
            </a:r>
            <a:endParaRPr lang="en-US" sz="1400" b="0" i="1" dirty="0">
              <a:solidFill>
                <a:srgbClr val="9FB3C4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442</Words>
  <Application>Microsoft Macintosh PowerPoint</Application>
  <PresentationFormat>Widescreen</PresentationFormat>
  <Paragraphs>50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Jatin Kumar</cp:lastModifiedBy>
  <cp:revision>3</cp:revision>
  <dcterms:created xsi:type="dcterms:W3CDTF">2013-01-27T09:14:16Z</dcterms:created>
  <dcterms:modified xsi:type="dcterms:W3CDTF">2026-06-19T14:06:40Z</dcterms:modified>
  <cp:category/>
</cp:coreProperties>
</file>