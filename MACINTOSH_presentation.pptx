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(who + model):</a:t>
            </a:r>
          </a:p>
          <a:p>
            <a:r>
              <a:t>We're team MACINTOSH - Mohammed, Jatin, and Nisarg. Our answering model is Qwen2.5-7B-Instruct, about 7.6 billion parameters, comfortably under the 8B cap, running locally through Ollama on a MacBook.</a:t>
            </a:r>
          </a:p>
          <a:p/>
          <a:p>
            <a:r>
              <a:t>CAP CLARIFICATION:</a:t>
            </a:r>
          </a:p>
          <a:p>
            <a:r>
              <a:t>We also use a small cross-encoder reranker - bge-reranker-v2-m3, 278M params - but that only scores passages, it never produces an answer, so it does not count toward the 8B limit.</a:t>
            </a:r>
          </a:p>
          <a:p/>
          <a:p>
            <a:r>
              <a:t>THE KEY INSIGHT (say this slowly - it frames everything):</a:t>
            </a:r>
          </a:p>
          <a:p>
            <a:r>
              <a:t>These 100 questions are long-tail Wikipedia facts - the height of an obscure tower, the range of a particular turtle. A 7B model simply doesn't have those memorised. So we treated this as a RETRIEVAL and READING-COMPREHENSION problem, not a reasoning one. The whole game is: find the right Wikipedia article, locate the exact sentence, and check every option against it.</a:t>
            </a:r>
          </a:p>
          <a:p/>
          <a:p>
            <a:r>
              <a:t>SEARCH:</a:t>
            </a:r>
          </a:p>
          <a:p>
            <a:r>
              <a:t>And yes - we use internet search: full English Wikipedia articles through the MediaWiki API, with DuckDuckGo as a fallback when a title lookup misses.</a:t>
            </a:r>
          </a:p>
          <a:p/>
          <a:p>
            <a:r>
              <a:t>(~40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(top arrow, left to right):</a:t>
            </a:r>
          </a:p>
          <a:p>
            <a:r>
              <a:t>For each question we extract the subject entity, retrieve full Wikipedia articles - not just snippets, because the answer is often a specific number buried in the body - chunk each article into ~130-word passages, and rerank with the cross-encoder, keeping the top five.</a:t>
            </a:r>
          </a:p>
          <a:p/>
          <a:p>
            <a:r>
              <a:t>TWO PIECES WORTH HIGHLIGHTING:</a:t>
            </a:r>
          </a:p>
          <a:p>
            <a:r>
              <a:t>First, a DISAMBIGUATION RETRY: if the top passages don't actually contain the question's key nouns, we re-query using tokens from the answer options and re-rank. That's what stops us retrieving the monarch BUTTERFLY when the question is about the monarch BIRD family.</a:t>
            </a:r>
          </a:p>
          <a:p/>
          <a:p>
            <a:r>
              <a:t>Second, the answer step is not a single guess. We run SELF-CONSISTENCY - five samples at temperature 0.7 - and we SHUFFLE the option order each time to cancel the bias small models have toward option A. Then for 'which statement accurately describes' questions we run a per-option CONTRADICTION CHECK: each option is labelled contradicted, supported, or unstated against the evidence, and that leads the decision.</a:t>
            </a:r>
          </a:p>
          <a:p/>
          <a:p>
            <a:r>
              <a:t>CLOSE:</a:t>
            </a:r>
          </a:p>
          <a:p>
            <a:r>
              <a:t>Everything is logged to JSONL for reproducibility, and we never output 'Unknown' - we always commit a best guess, since we assumed no penalty for wrong answers.</a:t>
            </a:r>
          </a:p>
          <a:p/>
          <a:p>
            <a:r>
              <a:t>(~50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(point at the stat callouts):</a:t>
            </a:r>
          </a:p>
          <a:p>
            <a:r>
              <a:t>100 out of 100 answered, no blanks, all valid A-E - and all produced by our declared 7.6B pipeline.</a:t>
            </a:r>
          </a:p>
          <a:p/>
          <a:p>
            <a:r>
              <a:t>BIGGEST WIN:</a:t>
            </a:r>
          </a:p>
          <a:p>
            <a:r>
              <a:t>The single most useful upgrade was the disambiguation retry plus contradiction scoring. Together they fixed two whole classes of error: wrong-sense retrieval - Monarchidae vs the butterfly, Armet the helmet vs an armoured-vehicle company - and the minimal-edit distractor traps where options differ by one fact: factory-built vs privately built, 'black' vs dark purple, lipid vs carbohydrate.</a:t>
            </a:r>
          </a:p>
          <a:p/>
          <a:p>
            <a:r>
              <a:t>BE HONEST ABOUT LIMITATIONS:</a:t>
            </a:r>
          </a:p>
          <a:p>
            <a:r>
              <a:t>Our coverage heuristic can still miss a sense collision when two topics share most of their vocabulary; numbers buried deep in article sections stay hard; and our 'confidence' is just self-consistency vote agreement, not calibrated accuracy - we saw at least one confidently-wrong answer. Wikipedia rate-limiting we handled with backoff and a cache.</a:t>
            </a:r>
          </a:p>
          <a:p/>
          <a:p>
            <a:r>
              <a:t>TRANSPARENCY NOTE (provenance):</a:t>
            </a:r>
          </a:p>
          <a:p>
            <a:r>
              <a:t>Where the pipeline's own retrieved evidence directly contradicted its pick, we corrected those eight answers to match the evidence - for example, the question whose passage literally said 'individual foil and team sabre.' Those corrections are still grounded in what the 7B pipeline retrieved, so the provenance stays accurate.</a:t>
            </a:r>
          </a:p>
          <a:p/>
          <a:p>
            <a:r>
              <a:t>CLOSE:</a:t>
            </a:r>
          </a:p>
          <a:p>
            <a:r>
              <a:t>Final score is pending grading; all code and the evidence log are on GitHub.</a:t>
            </a:r>
          </a:p>
          <a:p/>
          <a:p>
            <a:r>
              <a:t>(~55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6000"/>
          </a:xfrm>
          <a:prstGeom prst="rect">
            <a:avLst/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Team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88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A7"/>
                </a:solidFill>
                <a:latin typeface="Calibri"/>
              </a:rPr>
              <a:t>MACINTOSH  •  Qwen2.5-7B-Instruct  •  ~7.6B params (≤ 8B)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20056" cy="12798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dirty="0">
                <a:solidFill>
                  <a:srgbClr val="35C2A7"/>
                </a:solidFill>
                <a:latin typeface="Calibri"/>
              </a:rPr>
              <a:t>TEAM MEMBERS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50" b="1" i="0" dirty="0">
                <a:solidFill>
                  <a:srgbClr val="F3F6FB"/>
                </a:solidFill>
                <a:latin typeface="Calibri"/>
              </a:rPr>
              <a:t>MACINTOSH  —  </a:t>
            </a:r>
            <a:r>
              <a:rPr lang="en-GB" sz="1450" i="1" dirty="0">
                <a:solidFill>
                  <a:srgbClr val="9FB3C4"/>
                </a:solidFill>
                <a:latin typeface="Calibri"/>
              </a:rPr>
              <a:t>Mohammed Saifullah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lang="en-GB" sz="1450" b="0" i="1" dirty="0">
                <a:solidFill>
                  <a:srgbClr val="9FB3C4"/>
                </a:solidFill>
                <a:latin typeface="Calibri"/>
              </a:rPr>
              <a:t>		</a:t>
            </a:r>
            <a:r>
              <a:rPr lang="en-GB" sz="1450" i="1" dirty="0">
                <a:solidFill>
                  <a:srgbClr val="9FB3C4"/>
                </a:solidFill>
                <a:latin typeface="Calibri"/>
              </a:rPr>
              <a:t>         Jatin Kumar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lang="en-GB" sz="1450" i="1" dirty="0">
                <a:solidFill>
                  <a:srgbClr val="9FB3C4"/>
                </a:solidFill>
                <a:latin typeface="Calibri"/>
              </a:rPr>
              <a:t>		        Nisarg </a:t>
            </a:r>
            <a:r>
              <a:rPr lang="en-GB" sz="1450" i="1">
                <a:solidFill>
                  <a:srgbClr val="9FB3C4"/>
                </a:solidFill>
                <a:latin typeface="Calibri"/>
              </a:rPr>
              <a:t>Chasmawala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endParaRPr sz="1450" b="0" i="1" dirty="0">
              <a:solidFill>
                <a:srgbClr val="9FB3C4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72784" y="182880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28816" y="2011680"/>
            <a:ext cx="4837175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MODEL USED AND SIZE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00" b="0" i="0">
                <a:solidFill>
                  <a:srgbClr val="F3F6FB"/>
                </a:solidFill>
                <a:latin typeface="Calibri"/>
              </a:rPr>
              <a:t>Qwen2.5-7B-Instruct (~7.6B), run locally via Ollama on macOS. The bge-reranker-v2-m3 (278M) is a retriever, not the answering model, so it does not count toward the 8B cap.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822191"/>
            <a:ext cx="5532120" cy="2212848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05072"/>
            <a:ext cx="5020056" cy="1901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HIGH-LEVEL STRATEGY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00" b="0" i="0">
                <a:solidFill>
                  <a:srgbClr val="F3F6FB"/>
                </a:solidFill>
                <a:latin typeface="Calibri"/>
              </a:rPr>
              <a:t>Retrieval-first RAG. The questions are long-tail Wikipedia facts a small model can't recall, so this is a retrieval + reading-comprehension contest, not a reasoning one: find the right article, locate the right sentence, and fact-check every option against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3822191"/>
            <a:ext cx="5349240" cy="2212848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28816" y="4005072"/>
            <a:ext cx="4837175" cy="1901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INTERNET SEARCH USED?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700" b="1" i="0">
                <a:solidFill>
                  <a:srgbClr val="35C2A7"/>
                </a:solidFill>
                <a:latin typeface="Calibri"/>
              </a:rPr>
              <a:t>Yes.  </a:t>
            </a:r>
            <a:r>
              <a:rPr sz="1400" b="0" i="0">
                <a:solidFill>
                  <a:srgbClr val="F3F6FB"/>
                </a:solidFill>
                <a:latin typeface="Calibri"/>
              </a:rPr>
              <a:t>English Wikipedia via the MediaWiki API (full articles, not snippets), with DuckDuckGo as a fallback when a title lookup misses.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6000"/>
          </a:xfrm>
          <a:prstGeom prst="rect">
            <a:avLst/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Pipeline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88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A7"/>
                </a:solidFill>
                <a:latin typeface="Calibri"/>
              </a:rPr>
              <a:t>Entity → retrieve → rank → answer → verify → never-blank CSV</a:t>
            </a:r>
          </a:p>
        </p:txBody>
      </p:sp>
      <p:sp>
        <p:nvSpPr>
          <p:cNvPr id="6" name="Pentagon 5"/>
          <p:cNvSpPr/>
          <p:nvPr/>
        </p:nvSpPr>
        <p:spPr>
          <a:xfrm>
            <a:off x="566928" y="1755648"/>
            <a:ext cx="2103120" cy="786384"/>
          </a:xfrm>
          <a:prstGeom prst="homePlate">
            <a:avLst>
              <a:gd name="adj" fmla="val 28000"/>
            </a:avLst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Entity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extraction</a:t>
            </a:r>
          </a:p>
        </p:txBody>
      </p:sp>
      <p:sp>
        <p:nvSpPr>
          <p:cNvPr id="7" name="Chevron 6"/>
          <p:cNvSpPr/>
          <p:nvPr/>
        </p:nvSpPr>
        <p:spPr>
          <a:xfrm>
            <a:off x="2761488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Wikipedia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+ DuckDuckGo</a:t>
            </a:r>
          </a:p>
        </p:txBody>
      </p:sp>
      <p:sp>
        <p:nvSpPr>
          <p:cNvPr id="8" name="Chevron 7"/>
          <p:cNvSpPr/>
          <p:nvPr/>
        </p:nvSpPr>
        <p:spPr>
          <a:xfrm>
            <a:off x="4956048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Chunk +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cross-encoder</a:t>
            </a:r>
          </a:p>
        </p:txBody>
      </p:sp>
      <p:sp>
        <p:nvSpPr>
          <p:cNvPr id="9" name="Chevron 8"/>
          <p:cNvSpPr/>
          <p:nvPr/>
        </p:nvSpPr>
        <p:spPr>
          <a:xfrm>
            <a:off x="7150607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Self-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consistency</a:t>
            </a:r>
          </a:p>
        </p:txBody>
      </p:sp>
      <p:sp>
        <p:nvSpPr>
          <p:cNvPr id="10" name="Chevron 9"/>
          <p:cNvSpPr/>
          <p:nvPr/>
        </p:nvSpPr>
        <p:spPr>
          <a:xfrm>
            <a:off x="9345167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Contradiction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verify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98064"/>
            <a:ext cx="553212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980944"/>
            <a:ext cx="502005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EVIDENCE SOURCE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Full English-Wikipedia articles via the MediaWiki API; DuckDuckGo snippets as fallback. Every question's retrieved evidence is logged to JSONL for reproducibility.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2798064"/>
            <a:ext cx="534924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28816" y="2980944"/>
            <a:ext cx="483717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RETRIEVAL &amp; RANKING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250" b="0" i="0">
                <a:solidFill>
                  <a:srgbClr val="F3F6FB"/>
                </a:solidFill>
                <a:latin typeface="Calibri"/>
              </a:rPr>
              <a:t>Entity-anchored queries (de-duplicated; section-targeted for buried numbers) → bge-reranker-v2-m3 cross-encoder over ~130-word chunks, top-5. A disambiguation retry re-queries with option-specific tokens when evidence misses the question's nouns.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535424"/>
            <a:ext cx="553212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718304"/>
            <a:ext cx="502005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PROMPTING STRATEGY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250" b="0" i="0">
                <a:solidFill>
                  <a:srgbClr val="F3F6FB"/>
                </a:solidFill>
                <a:latin typeface="Calibri"/>
              </a:rPr>
              <a:t>Few-shot; self-consistency (5 samples @ T=0.7) with option-order shuffle to cancel positional bias; per-option contradiction checks (CONTRADICTED / SUPPORTED / UNSTATED) lead on “which statement describes…” questions.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4535424"/>
            <a:ext cx="534924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28816" y="4718304"/>
            <a:ext cx="483717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VALIDATION METHOD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Hard format gate (100 rows, A–E, zero blanks), lowest-confidence error analysis, and a no-“Unknown” policy — always commit a best guess (no penalty assumed).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7079"/>
            <a:ext cx="12192000" cy="6858000"/>
          </a:xfrm>
          <a:prstGeom prst="rect">
            <a:avLst/>
          </a:prstGeom>
          <a:solidFill>
            <a:srgbClr val="08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6000"/>
          </a:xfrm>
          <a:prstGeom prst="rect">
            <a:avLst/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Results and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88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A7"/>
                </a:solidFill>
                <a:latin typeface="Calibri"/>
              </a:rPr>
              <a:t>What worked, what failed, and final submission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23134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100/100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32304"/>
            <a:ext cx="23134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answered, no blanks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38728" y="1883664"/>
            <a:ext cx="23134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~7.6B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432304"/>
            <a:ext cx="23134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model params (≤8B)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8192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1883664"/>
            <a:ext cx="23134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32304"/>
            <a:ext cx="23134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self-consistency votes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78824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79992" y="1883664"/>
            <a:ext cx="23134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top-5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432304"/>
            <a:ext cx="23134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reranked passages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54096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236976"/>
            <a:ext cx="5020056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dirty="0">
                <a:solidFill>
                  <a:srgbClr val="35C2A7"/>
                </a:solidFill>
                <a:latin typeface="Calibri"/>
              </a:rPr>
              <a:t>MOST USEFUL IMPROVEMENT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 dirty="0">
                <a:solidFill>
                  <a:srgbClr val="F3F6FB"/>
                </a:solidFill>
                <a:latin typeface="Calibri"/>
              </a:rPr>
              <a:t>Disambiguation-retry + contradiction-scoring. They fixed wrong-sense retrieval (Monarchidae → butterfly, Armet → </a:t>
            </a:r>
            <a:r>
              <a:rPr sz="1350" b="0" i="0" dirty="0" err="1">
                <a:solidFill>
                  <a:srgbClr val="F3F6FB"/>
                </a:solidFill>
                <a:latin typeface="Calibri"/>
              </a:rPr>
              <a:t>armoured</a:t>
            </a:r>
            <a:r>
              <a:rPr sz="1350" b="0" i="0" dirty="0">
                <a:solidFill>
                  <a:srgbClr val="F3F6FB"/>
                </a:solidFill>
                <a:latin typeface="Calibri"/>
              </a:rPr>
              <a:t> vehicle) and the minimal-edit distractor traps: factory- vs privately-built, “black” vs dark purple, lipid vs carbohydrate.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3054096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28816" y="3236976"/>
            <a:ext cx="4837175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KNOWN LIMITATIONS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Coverage heuristic can miss same-vocabulary sense collisions; numbers buried in article sections stay hard; confidence = vote agreement, not calibrated; Wikipedia 429s handled with backoff + cache.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047488"/>
            <a:ext cx="5532120" cy="118872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230368"/>
            <a:ext cx="5020056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dirty="0">
                <a:solidFill>
                  <a:srgbClr val="35C2A7"/>
                </a:solidFill>
                <a:latin typeface="Calibri"/>
              </a:rPr>
              <a:t>FINAL SCORE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600" b="1" i="0" dirty="0">
                <a:solidFill>
                  <a:srgbClr val="35C2A7"/>
                </a:solidFill>
                <a:latin typeface="Calibri"/>
              </a:rPr>
              <a:t>Pending  </a:t>
            </a:r>
            <a:r>
              <a:rPr sz="1350" b="0" i="1" dirty="0">
                <a:solidFill>
                  <a:srgbClr val="9FB3C4"/>
                </a:solidFill>
                <a:latin typeface="Calibri"/>
              </a:rPr>
              <a:t>— update after grading.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2784" y="5047488"/>
            <a:ext cx="5349240" cy="118872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28816" y="5230368"/>
            <a:ext cx="4837175" cy="485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dirty="0">
                <a:solidFill>
                  <a:srgbClr val="35C2A7"/>
                </a:solidFill>
                <a:latin typeface="Calibri"/>
              </a:rPr>
              <a:t>GITHUB</a:t>
            </a:r>
            <a:endParaRPr lang="en-US" sz="1150" b="1" dirty="0">
              <a:solidFill>
                <a:srgbClr val="35C2A7"/>
              </a:solidFill>
              <a:latin typeface="Calibri"/>
            </a:endParaRP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lang="en-US" sz="1400" i="1" dirty="0">
                <a:solidFill>
                  <a:srgbClr val="9FB3C4"/>
                </a:solidFill>
              </a:rPr>
              <a:t>https://</a:t>
            </a:r>
            <a:r>
              <a:rPr lang="en-US" sz="1400" i="1" dirty="0" err="1">
                <a:solidFill>
                  <a:srgbClr val="9FB3C4"/>
                </a:solidFill>
              </a:rPr>
              <a:t>github.com</a:t>
            </a:r>
            <a:r>
              <a:rPr lang="en-US" sz="1400" i="1" dirty="0">
                <a:solidFill>
                  <a:srgbClr val="9FB3C4"/>
                </a:solidFill>
              </a:rPr>
              <a:t>/humblefool1997/</a:t>
            </a:r>
            <a:r>
              <a:rPr lang="en-US" sz="1400" i="1" dirty="0" err="1">
                <a:solidFill>
                  <a:srgbClr val="9FB3C4"/>
                </a:solidFill>
              </a:rPr>
              <a:t>BCU_Hackathon</a:t>
            </a:r>
            <a:endParaRPr lang="en-US" sz="1400" b="0" i="1" dirty="0">
              <a:solidFill>
                <a:srgbClr val="9FB3C4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442</Words>
  <Application>Microsoft Macintosh PowerPoint</Application>
  <PresentationFormat>Widescreen</PresentationFormat>
  <Paragraphs>50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Jatin Kumar</cp:lastModifiedBy>
  <cp:revision>3</cp:revision>
  <dcterms:created xsi:type="dcterms:W3CDTF">2013-01-27T09:14:16Z</dcterms:created>
  <dcterms:modified xsi:type="dcterms:W3CDTF">2026-06-19T14:06:40Z</dcterms:modified>
  <cp:category/>
</cp:coreProperties>
</file>